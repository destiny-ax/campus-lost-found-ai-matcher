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29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拾寻 · 城市拾遗网络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6263640"/>
            <a:ext cx="11128248" cy="0"/>
          </a:xfrm>
          <a:prstGeom prst="line">
            <a:avLst/>
          </a:prstGeom>
          <a:noFill/>
          <a:ln w="12700">
            <a:solidFill>
              <a:srgbClr val="E1E4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32764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AD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拾寻项目组 · 创新方案演示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5650992"/>
            <a:ext cx="320040" cy="12070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5212080"/>
            <a:ext cx="411480" cy="1645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1463040" y="5870448"/>
            <a:ext cx="274320" cy="98755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1828800" y="5431536"/>
            <a:ext cx="457200" cy="142646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Shape 5"/>
          <p:cNvSpPr/>
          <p:nvPr/>
        </p:nvSpPr>
        <p:spPr>
          <a:xfrm>
            <a:off x="2468880" y="5760720"/>
            <a:ext cx="365760" cy="10972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Shape 6"/>
          <p:cNvSpPr/>
          <p:nvPr/>
        </p:nvSpPr>
        <p:spPr>
          <a:xfrm>
            <a:off x="3017520" y="5321808"/>
            <a:ext cx="320040" cy="153619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Shape 7"/>
          <p:cNvSpPr/>
          <p:nvPr/>
        </p:nvSpPr>
        <p:spPr>
          <a:xfrm>
            <a:off x="3566160" y="5650992"/>
            <a:ext cx="457200" cy="12070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Shape 8"/>
          <p:cNvSpPr/>
          <p:nvPr/>
        </p:nvSpPr>
        <p:spPr>
          <a:xfrm>
            <a:off x="4206240" y="5815584"/>
            <a:ext cx="274320" cy="104241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0" y="5486400"/>
            <a:ext cx="365760" cy="13716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Shape 10"/>
          <p:cNvSpPr/>
          <p:nvPr/>
        </p:nvSpPr>
        <p:spPr>
          <a:xfrm>
            <a:off x="5120640" y="5705856"/>
            <a:ext cx="411480" cy="1152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Shape 11"/>
          <p:cNvSpPr/>
          <p:nvPr/>
        </p:nvSpPr>
        <p:spPr>
          <a:xfrm>
            <a:off x="5669280" y="5102352"/>
            <a:ext cx="320040" cy="17556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Shape 12"/>
          <p:cNvSpPr/>
          <p:nvPr/>
        </p:nvSpPr>
        <p:spPr>
          <a:xfrm>
            <a:off x="6217920" y="5541264"/>
            <a:ext cx="365760" cy="131673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Shape 13"/>
          <p:cNvSpPr/>
          <p:nvPr/>
        </p:nvSpPr>
        <p:spPr>
          <a:xfrm>
            <a:off x="6766560" y="5925312"/>
            <a:ext cx="274320" cy="9326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Shape 14"/>
          <p:cNvSpPr/>
          <p:nvPr/>
        </p:nvSpPr>
        <p:spPr>
          <a:xfrm>
            <a:off x="7223760" y="5266944"/>
            <a:ext cx="457200" cy="159105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Shape 15"/>
          <p:cNvSpPr/>
          <p:nvPr/>
        </p:nvSpPr>
        <p:spPr>
          <a:xfrm>
            <a:off x="7863840" y="5760720"/>
            <a:ext cx="320040" cy="10972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Shape 16"/>
          <p:cNvSpPr/>
          <p:nvPr/>
        </p:nvSpPr>
        <p:spPr>
          <a:xfrm>
            <a:off x="8321040" y="5431536"/>
            <a:ext cx="365760" cy="142646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9" name="Shape 17"/>
          <p:cNvSpPr/>
          <p:nvPr/>
        </p:nvSpPr>
        <p:spPr>
          <a:xfrm>
            <a:off x="8869680" y="5650992"/>
            <a:ext cx="411480" cy="12070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Shape 18"/>
          <p:cNvSpPr/>
          <p:nvPr/>
        </p:nvSpPr>
        <p:spPr>
          <a:xfrm>
            <a:off x="9509760" y="5870448"/>
            <a:ext cx="274320" cy="98755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1" name="Shape 19"/>
          <p:cNvSpPr/>
          <p:nvPr/>
        </p:nvSpPr>
        <p:spPr>
          <a:xfrm>
            <a:off x="9966960" y="5212080"/>
            <a:ext cx="457200" cy="1645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2" name="Shape 20"/>
          <p:cNvSpPr/>
          <p:nvPr/>
        </p:nvSpPr>
        <p:spPr>
          <a:xfrm>
            <a:off x="10607040" y="5596128"/>
            <a:ext cx="320040" cy="12618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3" name="Shape 21"/>
          <p:cNvSpPr/>
          <p:nvPr/>
        </p:nvSpPr>
        <p:spPr>
          <a:xfrm>
            <a:off x="11064240" y="5815584"/>
            <a:ext cx="365760" cy="104241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21031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拾寻 · 城市拾遗网络</a:t>
            </a:r>
            <a:endParaRPr lang="en-US" sz="4800" dirty="0"/>
          </a:p>
        </p:txBody>
      </p:sp>
      <p:sp>
        <p:nvSpPr>
          <p:cNvPr id="25" name="Shape 23"/>
          <p:cNvSpPr/>
          <p:nvPr/>
        </p:nvSpPr>
        <p:spPr>
          <a:xfrm>
            <a:off x="5029200" y="3154680"/>
            <a:ext cx="164592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6" name="Text 24"/>
          <p:cNvSpPr/>
          <p:nvPr/>
        </p:nvSpPr>
        <p:spPr>
          <a:xfrm>
            <a:off x="1371600" y="33375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构建城市级泛公共物联网络，让每一次遗失都有重逢的可能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3931920" y="4114800"/>
            <a:ext cx="3931920" cy="502920"/>
          </a:xfrm>
          <a:prstGeom prst="roundRect">
            <a:avLst>
              <a:gd name="adj" fmla="val 50909"/>
            </a:avLst>
          </a:prstGeom>
          <a:solidFill>
            <a:srgbClr val="1E3A8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31920" y="411480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用科技编织温情纽带 · 重塑城市失物招领新生态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029200" y="4617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2026年6月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85800"/>
            <a:ext cx="1143000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675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 CONTENTS</a:t>
            </a:r>
            <a:endParaRPr lang="en-US" sz="2675" dirty="0"/>
          </a:p>
        </p:txBody>
      </p:sp>
      <p:sp>
        <p:nvSpPr>
          <p:cNvPr id="3" name="Text 1"/>
          <p:cNvSpPr/>
          <p:nvPr/>
        </p:nvSpPr>
        <p:spPr>
          <a:xfrm>
            <a:off x="365760" y="1481328"/>
            <a:ext cx="11430000" cy="4787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从市场痛点挖掘到技术架构落地，构建完整的城市失物招领解决方案体系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2280158"/>
            <a:ext cx="347472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2280158"/>
            <a:ext cx="54864" cy="23774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2554478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255447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324027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项目背景与市场痛点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3697478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深度剖析城市失物招领的严峻现状，直击传统模式信息碎片化、流转无规范的核心痛点，确立构建城市级泛公共物联网络的长远愿景。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069080" y="2280158"/>
            <a:ext cx="347472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69080" y="2280158"/>
            <a:ext cx="54864" cy="2377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Shape 10"/>
          <p:cNvSpPr/>
          <p:nvPr/>
        </p:nvSpPr>
        <p:spPr>
          <a:xfrm>
            <a:off x="4297680" y="2554478"/>
            <a:ext cx="548640" cy="5486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4297680" y="255447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251960" y="324027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产品介绍与核心功能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251960" y="3697478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演示从遗失上报、智能匹配、找回确认到安全归还的完整业务闭环，依托AI算法实现精准物主匹配，搭建完善的信用体系保障双方权益。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72400" y="2280158"/>
            <a:ext cx="347472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0" y="2280158"/>
            <a:ext cx="54864" cy="23774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8" name="Shape 16"/>
          <p:cNvSpPr/>
          <p:nvPr/>
        </p:nvSpPr>
        <p:spPr>
          <a:xfrm>
            <a:off x="8001000" y="2554478"/>
            <a:ext cx="548640" cy="54864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9" name="Text 17"/>
          <p:cNvSpPr/>
          <p:nvPr/>
        </p:nvSpPr>
        <p:spPr>
          <a:xfrm>
            <a:off x="8001000" y="255447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955280" y="324027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技术架构与未来展望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955280" y="3697478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解析Serverless无服务器架构的轻量化部署优势，复盘项目阶段性落地成果，探索物联网硬件结合大数据分析的下一代产品迭代方向。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0" y="466344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 · 智能 · 可信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1828800" y="5166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以技术驱动失物招领行业升级，打造全流程智能化、规范化的公共服务新范式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85800"/>
            <a:ext cx="1143000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675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城市日均遗失数万件，找回却靠运气</a:t>
            </a:r>
            <a:endParaRPr lang="en-US" sz="2675" dirty="0"/>
          </a:p>
        </p:txBody>
      </p:sp>
      <p:sp>
        <p:nvSpPr>
          <p:cNvPr id="3" name="Text 1"/>
          <p:cNvSpPr/>
          <p:nvPr/>
        </p:nvSpPr>
        <p:spPr>
          <a:xfrm>
            <a:off x="365760" y="1481328"/>
            <a:ext cx="11430000" cy="4787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城市失物招领面临三大核心痛点，传统模式难以解决信息互通与信任问题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2280158"/>
            <a:ext cx="34747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2508758"/>
            <a:ext cx="512064" cy="51206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250875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20" dirty="0"/>
          </a:p>
        </p:txBody>
      </p:sp>
      <p:sp>
        <p:nvSpPr>
          <p:cNvPr id="7" name="Text 5"/>
          <p:cNvSpPr/>
          <p:nvPr/>
        </p:nvSpPr>
        <p:spPr>
          <a:xfrm>
            <a:off x="548640" y="315798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传统模式低效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3551174"/>
            <a:ext cx="3108960" cy="8321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95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依赖线下招领处、公告栏、社交媒体等零散渠道，信息分散且覆盖面狭窄，物品匹配流程繁琐，整体找回效率处于极低水平。</a:t>
            </a:r>
            <a:endParaRPr lang="en-US" sz="1195" dirty="0"/>
          </a:p>
        </p:txBody>
      </p:sp>
      <p:sp>
        <p:nvSpPr>
          <p:cNvPr id="9" name="Shape 7"/>
          <p:cNvSpPr/>
          <p:nvPr/>
        </p:nvSpPr>
        <p:spPr>
          <a:xfrm>
            <a:off x="4069080" y="2280158"/>
            <a:ext cx="34747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97680" y="2508758"/>
            <a:ext cx="512064" cy="51206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4297680" y="250875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20" dirty="0"/>
          </a:p>
        </p:txBody>
      </p:sp>
      <p:sp>
        <p:nvSpPr>
          <p:cNvPr id="12" name="Text 10"/>
          <p:cNvSpPr/>
          <p:nvPr/>
        </p:nvSpPr>
        <p:spPr>
          <a:xfrm>
            <a:off x="4251960" y="315798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信息孤岛严重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251960" y="3551174"/>
            <a:ext cx="3108960" cy="8321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95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拾物者与失主之间缺乏统一、高效的沟通桥梁，双方信息传递存在壁垒，供需信息难以实现精准互通与快速对接。</a:t>
            </a:r>
            <a:endParaRPr lang="en-US" sz="1195" dirty="0"/>
          </a:p>
        </p:txBody>
      </p:sp>
      <p:sp>
        <p:nvSpPr>
          <p:cNvPr id="14" name="Shape 12"/>
          <p:cNvSpPr/>
          <p:nvPr/>
        </p:nvSpPr>
        <p:spPr>
          <a:xfrm>
            <a:off x="7772400" y="2280158"/>
            <a:ext cx="34747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01000" y="2508758"/>
            <a:ext cx="512064" cy="512064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6" name="Text 14"/>
          <p:cNvSpPr/>
          <p:nvPr/>
        </p:nvSpPr>
        <p:spPr>
          <a:xfrm>
            <a:off x="8001000" y="250875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20" dirty="0"/>
          </a:p>
        </p:txBody>
      </p:sp>
      <p:sp>
        <p:nvSpPr>
          <p:cNvPr id="17" name="Text 15"/>
          <p:cNvSpPr/>
          <p:nvPr/>
        </p:nvSpPr>
        <p:spPr>
          <a:xfrm>
            <a:off x="7955280" y="315798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信任机制缺失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955280" y="3551174"/>
            <a:ext cx="3108960" cy="8321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95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线上沟通存在身份难以确认、信息不透明等安全风险，易产生物品归属误解，甚至滋生诈骗行为，用户权益无保障。</a:t>
            </a:r>
            <a:endParaRPr lang="en-US" sz="1195" dirty="0"/>
          </a:p>
        </p:txBody>
      </p:sp>
      <p:sp>
        <p:nvSpPr>
          <p:cNvPr id="19" name="Text 17"/>
          <p:cNvSpPr/>
          <p:nvPr/>
        </p:nvSpPr>
        <p:spPr>
          <a:xfrm>
            <a:off x="4114800" y="470916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6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数万</a:t>
            </a:r>
            <a:endParaRPr lang="en-US" sz="5600" dirty="0"/>
          </a:p>
        </p:txBody>
      </p:sp>
      <p:sp>
        <p:nvSpPr>
          <p:cNvPr id="20" name="Text 18"/>
          <p:cNvSpPr/>
          <p:nvPr/>
        </p:nvSpPr>
        <p:spPr>
          <a:xfrm>
            <a:off x="6126480" y="493776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件/天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828800" y="5577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城市日均遗失物品估算，传统模式下找回率不足5%，钥匙、证件、数码产品为高频遗失物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85800"/>
            <a:ext cx="1143000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675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构建城市级泛公共物联网络</a:t>
            </a:r>
            <a:endParaRPr lang="en-US" sz="2675" dirty="0"/>
          </a:p>
        </p:txBody>
      </p:sp>
      <p:sp>
        <p:nvSpPr>
          <p:cNvPr id="3" name="Shape 1"/>
          <p:cNvSpPr/>
          <p:nvPr/>
        </p:nvSpPr>
        <p:spPr>
          <a:xfrm>
            <a:off x="365760" y="1691640"/>
            <a:ext cx="347472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920240"/>
            <a:ext cx="512064" cy="51206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9202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520" dirty="0"/>
          </a:p>
        </p:txBody>
      </p:sp>
      <p:sp>
        <p:nvSpPr>
          <p:cNvPr id="6" name="Text 4"/>
          <p:cNvSpPr/>
          <p:nvPr/>
        </p:nvSpPr>
        <p:spPr>
          <a:xfrm>
            <a:off x="548640" y="2569464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项目定位：全域物联网络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962656"/>
            <a:ext cx="3108960" cy="15636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97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「拾寻」并非单一的校园工具，而是面向未来的城市级泛公共物联网络。它打破了传统失物招领的地域与场景限制，致力于连接城市中每一个公共节点，打造开放、共享的物品管理基础设施。</a:t>
            </a:r>
            <a:endParaRPr lang="en-US" sz="1097" dirty="0"/>
          </a:p>
        </p:txBody>
      </p:sp>
      <p:sp>
        <p:nvSpPr>
          <p:cNvPr id="8" name="Shape 6"/>
          <p:cNvSpPr/>
          <p:nvPr/>
        </p:nvSpPr>
        <p:spPr>
          <a:xfrm>
            <a:off x="4069080" y="1691640"/>
            <a:ext cx="347472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97680" y="1920240"/>
            <a:ext cx="512064" cy="51206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4297680" y="19202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520" dirty="0"/>
          </a:p>
        </p:txBody>
      </p:sp>
      <p:sp>
        <p:nvSpPr>
          <p:cNvPr id="11" name="Text 9"/>
          <p:cNvSpPr/>
          <p:nvPr/>
        </p:nvSpPr>
        <p:spPr>
          <a:xfrm>
            <a:off x="4251960" y="2569464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核心理念：打破信息壁垒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251960" y="2962656"/>
            <a:ext cx="3108960" cy="15636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97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利用数字化技术手段，高效连接城市中的每一个“遗失”与“拾获”行为。消除信息不对称，构建高效流转、安全可信、便捷易用的物品找回生态，让失物回归变得简单、透明且有保障。</a:t>
            </a:r>
            <a:endParaRPr lang="en-US" sz="1097" dirty="0"/>
          </a:p>
        </p:txBody>
      </p:sp>
      <p:sp>
        <p:nvSpPr>
          <p:cNvPr id="13" name="Shape 11"/>
          <p:cNvSpPr/>
          <p:nvPr/>
        </p:nvSpPr>
        <p:spPr>
          <a:xfrm>
            <a:off x="7772400" y="1691640"/>
            <a:ext cx="347472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01000" y="1920240"/>
            <a:ext cx="512064" cy="512064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5" name="Text 13"/>
          <p:cNvSpPr/>
          <p:nvPr/>
        </p:nvSpPr>
        <p:spPr>
          <a:xfrm>
            <a:off x="8001000" y="19202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520" dirty="0"/>
          </a:p>
        </p:txBody>
      </p:sp>
      <p:sp>
        <p:nvSpPr>
          <p:cNvPr id="16" name="Text 14"/>
          <p:cNvSpPr/>
          <p:nvPr/>
        </p:nvSpPr>
        <p:spPr>
          <a:xfrm>
            <a:off x="7955280" y="2569464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场景落地：中传示范样本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955280" y="2962656"/>
            <a:ext cx="3108960" cy="15636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97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本次演示以中国传媒大学为核心筛选场景，展示高密度人员区域的运作模式。该模式可快速复制并适配任何城市区域，无论是校园、商圈还是社区，都能无缝接入物联网络体系。</a:t>
            </a:r>
            <a:endParaRPr lang="en-US" sz="1097" dirty="0"/>
          </a:p>
        </p:txBody>
      </p:sp>
      <p:sp>
        <p:nvSpPr>
          <p:cNvPr id="18" name="Text 16"/>
          <p:cNvSpPr/>
          <p:nvPr/>
        </p:nvSpPr>
        <p:spPr>
          <a:xfrm>
            <a:off x="1097280" y="480060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信息汇聚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606040" y="4937760"/>
            <a:ext cx="365760" cy="137160"/>
          </a:xfrm>
          <a:prstGeom prst="rightArrow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0" y="480060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全域连接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26280" y="4937760"/>
            <a:ext cx="365760" cy="137160"/>
          </a:xfrm>
          <a:prstGeom prst="rightArrow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480060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精准匹配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46520" y="4937760"/>
            <a:ext cx="365760" cy="137160"/>
          </a:xfrm>
          <a:prstGeom prst="rightArrow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0" y="480060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信用背书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366760" y="4937760"/>
            <a:ext cx="365760" cy="137160"/>
          </a:xfrm>
          <a:prstGeom prst="rightArrow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78240" y="480060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生态闭环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85800"/>
            <a:ext cx="1143000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675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城市级服务能力全景演示</a:t>
            </a:r>
            <a:endParaRPr lang="en-US" sz="2675" dirty="0"/>
          </a:p>
        </p:txBody>
      </p:sp>
      <p:sp>
        <p:nvSpPr>
          <p:cNvPr id="3" name="Text 1"/>
          <p:cNvSpPr/>
          <p:nvPr/>
        </p:nvSpPr>
        <p:spPr>
          <a:xfrm>
            <a:off x="365760" y="1481328"/>
            <a:ext cx="11430000" cy="4787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城市级平台 · 传媒大学粒度演示（以传媒大学为筛选场景示例）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2280158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5" name="Image 0" descr="D:\Trae_Solo_Project\拾寻\期末作业\项目截图\01_首页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2353310"/>
            <a:ext cx="3328416" cy="13533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372491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城市级海量吞吐能力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069080" y="2280158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8" name="Image 1" descr="D:\Trae_Solo_Project\拾寻\期末作业\项目截图\02_发布表单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2232" y="2353310"/>
            <a:ext cx="3328416" cy="13533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069080" y="372491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地理围栏与精准检索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7772400" y="2280158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1" name="Image 2" descr="D:\Trae_Solo_Project\拾寻\期末作业\项目截图\04_个人中心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5552" y="2353310"/>
            <a:ext cx="3328416" cy="135331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772400" y="372491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多场景无缝适配切换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502920" y="4337558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640080" y="453872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1143000" y="450215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失物招领检索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1143000" y="484047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多维度模糊匹配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3337560" y="4337558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474720" y="453872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🛡️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3977640" y="450215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实名认证准入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3977640" y="484047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双向实名握手解锁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6172200" y="4337558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6309360" y="453872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23" name="Text 18"/>
          <p:cNvSpPr/>
          <p:nvPr/>
        </p:nvSpPr>
        <p:spPr>
          <a:xfrm>
            <a:off x="6812280" y="450215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智能匹配推荐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6812280" y="484047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维加权精准撮合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9006840" y="4337558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9144000" y="453872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📦</a:t>
            </a:r>
            <a:endParaRPr lang="en-US" sz="2000" dirty="0"/>
          </a:p>
        </p:txBody>
      </p:sp>
      <p:sp>
        <p:nvSpPr>
          <p:cNvPr id="27" name="Text 22"/>
          <p:cNvSpPr/>
          <p:nvPr/>
        </p:nvSpPr>
        <p:spPr>
          <a:xfrm>
            <a:off x="9646920" y="450215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代保管点网络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9646920" y="484047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无接触安全交接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85800"/>
            <a:ext cx="1143000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675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打造失物招领的完整闭环</a:t>
            </a:r>
            <a:endParaRPr lang="en-US" sz="2675" dirty="0"/>
          </a:p>
        </p:txBody>
      </p:sp>
      <p:sp>
        <p:nvSpPr>
          <p:cNvPr id="3" name="Text 1"/>
          <p:cNvSpPr/>
          <p:nvPr/>
        </p:nvSpPr>
        <p:spPr>
          <a:xfrm>
            <a:off x="365760" y="1481328"/>
            <a:ext cx="11430000" cy="4787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在“认领审核”后新增“找回确认”环节，双方确认才生效，杜绝单方误操作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2280158"/>
            <a:ext cx="34747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2508758"/>
            <a:ext cx="512064" cy="51206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250875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20" dirty="0"/>
          </a:p>
        </p:txBody>
      </p:sp>
      <p:sp>
        <p:nvSpPr>
          <p:cNvPr id="7" name="Text 5"/>
          <p:cNvSpPr/>
          <p:nvPr/>
        </p:nvSpPr>
        <p:spPr>
          <a:xfrm>
            <a:off x="548640" y="315798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发布与智能匹配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3551174"/>
            <a:ext cx="3108960" cy="8778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03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失主或拾主发布物品信息，系统依托AI自动提取特征标签，进行多维度智能匹配。根据物品类型、地点、时间等核心要素快速推送结果，让信息对接更精准高效。</a:t>
            </a:r>
            <a:endParaRPr lang="en-US" sz="1003" dirty="0"/>
          </a:p>
        </p:txBody>
      </p:sp>
      <p:sp>
        <p:nvSpPr>
          <p:cNvPr id="9" name="Shape 7"/>
          <p:cNvSpPr/>
          <p:nvPr/>
        </p:nvSpPr>
        <p:spPr>
          <a:xfrm>
            <a:off x="4069080" y="2280158"/>
            <a:ext cx="34747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97680" y="2508758"/>
            <a:ext cx="512064" cy="51206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4297680" y="250875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20" dirty="0"/>
          </a:p>
        </p:txBody>
      </p:sp>
      <p:sp>
        <p:nvSpPr>
          <p:cNvPr id="12" name="Text 10"/>
          <p:cNvSpPr/>
          <p:nvPr/>
        </p:nvSpPr>
        <p:spPr>
          <a:xfrm>
            <a:off x="4251960" y="315798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认领与找回确认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251960" y="3551174"/>
            <a:ext cx="3108960" cy="8778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03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匹配成功后双方线上沟通，核对物品细节与特征。拾到者点击“已归还”，失主确认“已收到”，双方确认才生效，有效规避冒领与纠纷，保障信息与财产安全。</a:t>
            </a:r>
            <a:endParaRPr lang="en-US" sz="1003" dirty="0"/>
          </a:p>
        </p:txBody>
      </p:sp>
      <p:sp>
        <p:nvSpPr>
          <p:cNvPr id="14" name="Shape 12"/>
          <p:cNvSpPr/>
          <p:nvPr/>
        </p:nvSpPr>
        <p:spPr>
          <a:xfrm>
            <a:off x="7772400" y="2280158"/>
            <a:ext cx="34747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01000" y="2508758"/>
            <a:ext cx="512064" cy="512064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6" name="Text 14"/>
          <p:cNvSpPr/>
          <p:nvPr/>
        </p:nvSpPr>
        <p:spPr>
          <a:xfrm>
            <a:off x="8001000" y="250875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20" dirty="0"/>
          </a:p>
        </p:txBody>
      </p:sp>
      <p:sp>
        <p:nvSpPr>
          <p:cNvPr id="17" name="Text 15"/>
          <p:cNvSpPr/>
          <p:nvPr/>
        </p:nvSpPr>
        <p:spPr>
          <a:xfrm>
            <a:off x="7955280" y="315798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激励与生态闭环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955280" y="3551174"/>
            <a:ext cx="3108960" cy="8778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88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物品成功找回后，系统自动发放社区积分奖励（拾到者+10分，失主+5分）。积分可兑换权益，以正向激励带动社区互助热情，构建“发布-匹配-认领-确认-激励”的良性生态。</a:t>
            </a:r>
            <a:endParaRPr lang="en-US" sz="988" dirty="0"/>
          </a:p>
        </p:txBody>
      </p:sp>
      <p:sp>
        <p:nvSpPr>
          <p:cNvPr id="19" name="Text 17"/>
          <p:cNvSpPr/>
          <p:nvPr/>
        </p:nvSpPr>
        <p:spPr>
          <a:xfrm>
            <a:off x="502920" y="46177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信息发布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194560" y="4754880"/>
            <a:ext cx="320040" cy="137160"/>
          </a:xfrm>
          <a:prstGeom prst="rightArrow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0" y="46177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AI智能匹配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251960" y="4754880"/>
            <a:ext cx="320040" cy="137160"/>
          </a:xfrm>
          <a:prstGeom prst="rightArrow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17720" y="46177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线上认领核验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09360" y="4754880"/>
            <a:ext cx="320040" cy="137160"/>
          </a:xfrm>
          <a:prstGeom prst="rightArrow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0" y="46177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找回确认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366760" y="4754880"/>
            <a:ext cx="320040" cy="137160"/>
          </a:xfrm>
          <a:prstGeom prst="rightArrow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732520" y="46177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积分激励互助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85800"/>
            <a:ext cx="1143000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675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智能匹配：让重逢更精准</a:t>
            </a:r>
            <a:endParaRPr lang="en-US" sz="2675" dirty="0"/>
          </a:p>
        </p:txBody>
      </p:sp>
      <p:sp>
        <p:nvSpPr>
          <p:cNvPr id="3" name="Text 1"/>
          <p:cNvSpPr/>
          <p:nvPr/>
        </p:nvSpPr>
        <p:spPr>
          <a:xfrm>
            <a:off x="365760" y="1481328"/>
            <a:ext cx="11430000" cy="4787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多模态融合匹配引擎，结合文本结构化与图片语义识别，实现 7 维加权精准撮合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2280158"/>
            <a:ext cx="11430000" cy="777240"/>
          </a:xfrm>
          <a:prstGeom prst="roundRect">
            <a:avLst>
              <a:gd name="adj" fmla="val 9412"/>
            </a:avLst>
          </a:prstGeom>
          <a:solidFill>
            <a:srgbClr val="EEF2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243560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2280158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核心引擎：多模态融合匹配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303520" y="2280158"/>
            <a:ext cx="6217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通过文本结构化提取关键特征，结合图片语义识别分析内容，对物品类别、属性、场景进行多维度相似度加权计算。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3285998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3514598"/>
            <a:ext cx="512064" cy="51206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351459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520" dirty="0"/>
          </a:p>
        </p:txBody>
      </p:sp>
      <p:sp>
        <p:nvSpPr>
          <p:cNvPr id="11" name="Text 9"/>
          <p:cNvSpPr/>
          <p:nvPr/>
        </p:nvSpPr>
        <p:spPr>
          <a:xfrm>
            <a:off x="548640" y="416382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文本结构化提取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4557014"/>
            <a:ext cx="3108960" cy="3749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智能解析用户输入的自然语言，精准提取物品类型、颜色特征、遗失/拾取地点、时间节点等关键信息，构建结构化数据基础。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069080" y="3285998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97680" y="3514598"/>
            <a:ext cx="512064" cy="51206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4297680" y="351459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520" dirty="0"/>
          </a:p>
        </p:txBody>
      </p:sp>
      <p:sp>
        <p:nvSpPr>
          <p:cNvPr id="16" name="Text 14"/>
          <p:cNvSpPr/>
          <p:nvPr/>
        </p:nvSpPr>
        <p:spPr>
          <a:xfrm>
            <a:off x="4251960" y="416382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图片语义识别技术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251960" y="4557014"/>
            <a:ext cx="3108960" cy="3749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利用深度学习模型分析上传图片内容，提取视觉关键特征，支持“文本+图片”多模态交叉验证，让物品匹配突破纯文字限制。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772400" y="3285998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01000" y="3514598"/>
            <a:ext cx="512064" cy="512064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20" name="Text 18"/>
          <p:cNvSpPr/>
          <p:nvPr/>
        </p:nvSpPr>
        <p:spPr>
          <a:xfrm>
            <a:off x="8001000" y="351459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520" dirty="0"/>
          </a:p>
        </p:txBody>
      </p:sp>
      <p:sp>
        <p:nvSpPr>
          <p:cNvPr id="21" name="Text 19"/>
          <p:cNvSpPr/>
          <p:nvPr/>
        </p:nvSpPr>
        <p:spPr>
          <a:xfrm>
            <a:off x="7955280" y="416382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多维度加权评分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955280" y="4557014"/>
            <a:ext cx="3108960" cy="3749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系统自动拆解匹配维度，对类别、颜色、地点、时间、文本、图像、语义等 7 个核心要素赋予不同权重，清晰展示各维度匹配详情。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5343398"/>
            <a:ext cx="11430000" cy="914400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543483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85% 综合匹配度示例 | 类别100% · 颜色100% · 地点100% · 时间95% · 文本78% · 图像92% · 语义88%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8640" y="580059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自动解释匹配逻辑：物品基础属性高度一致，地点信息完全重合，图片视觉特征匹配度极高，文本描述因简略导致部分维度分值略低。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85800"/>
            <a:ext cx="1143000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675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核心功能：构建安全与信任闭环</a:t>
            </a:r>
            <a:endParaRPr lang="en-US" sz="2675" dirty="0"/>
          </a:p>
        </p:txBody>
      </p:sp>
      <p:sp>
        <p:nvSpPr>
          <p:cNvPr id="3" name="Text 1"/>
          <p:cNvSpPr/>
          <p:nvPr/>
        </p:nvSpPr>
        <p:spPr>
          <a:xfrm>
            <a:off x="365760" y="1481328"/>
            <a:ext cx="11430000" cy="4787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实名认证 + 双向确认 + 信用积分 + 代保管网络，保障每一次交易真实可信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2280158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EEF2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444750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10+5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308483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双向激励信用体系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414014"/>
            <a:ext cx="2286000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拾到者确认归还获10分，失主确认收到获5分，建立永久信用档案激励诚信。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18688" y="2280158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F5F3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01568" y="2444750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401568" y="308483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强制实名认证准入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01568" y="3414014"/>
            <a:ext cx="2286000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平台严格执行用户实名认证机制，绑定身份信息，从源头保障交易安全可靠。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71616" y="2280158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ECFE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54496" y="2444750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2重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254496" y="308483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交易闭环双重确认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54496" y="3414014"/>
            <a:ext cx="2286000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独创“已归还”与“已收到”双向确认流程，有效规避功能滥用，确保每笔交易真实完成。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924544" y="2280158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F0FDF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2444750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N+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107424" y="308483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官方安全代保管网络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07424" y="3414014"/>
            <a:ext cx="2286000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接入校园保安亭、图书馆、便利店、智能柜等官方/合作点位，提供安全中立的物品交接点。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154678"/>
            <a:ext cx="30175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4383278"/>
            <a:ext cx="512064" cy="51206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438327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20" dirty="0"/>
          </a:p>
        </p:txBody>
      </p:sp>
      <p:sp>
        <p:nvSpPr>
          <p:cNvPr id="23" name="Text 21"/>
          <p:cNvSpPr/>
          <p:nvPr/>
        </p:nvSpPr>
        <p:spPr>
          <a:xfrm>
            <a:off x="548640" y="503250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信用档案可视化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5425694"/>
            <a:ext cx="2651760" cy="91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用户可随时查看个人信用积分明细与历史履约记录，积分等级直接关联平台权限，形成正向循环的诚信生态。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11880" y="4154678"/>
            <a:ext cx="30175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40480" y="4383278"/>
            <a:ext cx="512064" cy="51206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7" name="Text 25"/>
          <p:cNvSpPr/>
          <p:nvPr/>
        </p:nvSpPr>
        <p:spPr>
          <a:xfrm>
            <a:off x="3840480" y="438327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20" dirty="0"/>
          </a:p>
        </p:txBody>
      </p:sp>
      <p:sp>
        <p:nvSpPr>
          <p:cNvPr id="28" name="Text 26"/>
          <p:cNvSpPr/>
          <p:nvPr/>
        </p:nvSpPr>
        <p:spPr>
          <a:xfrm>
            <a:off x="3794760" y="503250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城市身份强绑定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794760" y="5425694"/>
            <a:ext cx="2651760" cy="91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对接实名认证系统，确保注册用户身份信息真实有效。验证过程加密处理，保障用户隐私数据安全无泄露。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858000" y="4154678"/>
            <a:ext cx="30175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086600" y="4383278"/>
            <a:ext cx="512064" cy="512064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32" name="Text 30"/>
          <p:cNvSpPr/>
          <p:nvPr/>
        </p:nvSpPr>
        <p:spPr>
          <a:xfrm>
            <a:off x="7086600" y="438327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20" dirty="0"/>
          </a:p>
        </p:txBody>
      </p:sp>
      <p:sp>
        <p:nvSpPr>
          <p:cNvPr id="33" name="Text 31"/>
          <p:cNvSpPr/>
          <p:nvPr/>
        </p:nvSpPr>
        <p:spPr>
          <a:xfrm>
            <a:off x="7040880" y="503250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全域托管点位覆盖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040880" y="5425694"/>
            <a:ext cx="2651760" cy="91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地图可视化展示代保管网点，支持一键导航与网点预约，解决用户时空错配难题，提升物品找回成功率。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9921240" y="4154678"/>
            <a:ext cx="20116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058400" y="424611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安全机制补充：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0058400" y="4493006"/>
            <a:ext cx="17373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信息自由发布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058400" y="4648454"/>
            <a:ext cx="17373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AI 智能匹配推送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058400" y="4803902"/>
            <a:ext cx="17373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实名认证机制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058400" y="4959350"/>
            <a:ext cx="17373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双向确认闭环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0058400" y="5114798"/>
            <a:ext cx="17373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信用积分激励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058400" y="5270246"/>
            <a:ext cx="17373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全终端消息触达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0058400" y="5425694"/>
            <a:ext cx="17373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代保管点网络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85800"/>
            <a:ext cx="1143000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675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拥抱 Serverless 无服务器时代</a:t>
            </a:r>
            <a:endParaRPr lang="en-US" sz="2675" dirty="0"/>
          </a:p>
        </p:txBody>
      </p:sp>
      <p:sp>
        <p:nvSpPr>
          <p:cNvPr id="3" name="Text 1"/>
          <p:cNvSpPr/>
          <p:nvPr/>
        </p:nvSpPr>
        <p:spPr>
          <a:xfrm>
            <a:off x="365760" y="1481328"/>
            <a:ext cx="11430000" cy="4787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零服务器运维，按需执行，自动弹性扩缩容，当前免费额度内零成本运行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2280158"/>
            <a:ext cx="5394960" cy="1965960"/>
          </a:xfrm>
          <a:prstGeom prst="roundRect">
            <a:avLst>
              <a:gd name="adj" fmla="val 5581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255447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🖥️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280160" y="2554478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前端交互层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3148838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原生 HTML/CSS/JS 构建单页应用，极致响应式适配多终端，剔除冗余框架，毫秒级加载。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2280158"/>
            <a:ext cx="5394960" cy="1965960"/>
          </a:xfrm>
          <a:prstGeom prst="roundRect">
            <a:avLst>
              <a:gd name="adj" fmla="val 5581"/>
            </a:avLst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6446520" y="255447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7132320" y="2554478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后端服务层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46520" y="3148838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Vercel Serverless Functions 部署核心 API，代码按需执行、弹性扩缩，零服务器运维成本。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4474718"/>
            <a:ext cx="5394960" cy="1965960"/>
          </a:xfrm>
          <a:prstGeom prst="roundRect">
            <a:avLst>
              <a:gd name="adj" fmla="val 5581"/>
            </a:avLst>
          </a:prstGeom>
          <a:solidFill>
            <a:srgbClr val="06B6D4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474903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🗄️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280160" y="4749038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云端数据层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94360" y="5343398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Supabase PostgreSQL 全托管数据库，自带 RESTful API 与实时订阅，简化开发维护。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4474718"/>
            <a:ext cx="5394960" cy="1965960"/>
          </a:xfrm>
          <a:prstGeom prst="roundRect">
            <a:avLst>
              <a:gd name="adj" fmla="val 5581"/>
            </a:avLst>
          </a:prstGeom>
          <a:solidFill>
            <a:srgbClr val="14B8A6"/>
          </a:solidFill>
          <a:ln/>
        </p:spPr>
      </p:sp>
      <p:sp>
        <p:nvSpPr>
          <p:cNvPr id="17" name="Text 15"/>
          <p:cNvSpPr/>
          <p:nvPr/>
        </p:nvSpPr>
        <p:spPr>
          <a:xfrm>
            <a:off x="6446520" y="474903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🧠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7132320" y="4749038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智能能力层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46520" y="5343398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集成 SiliconFlow API，提供高精度文本提取、图片语义识别与智能内容分析能力。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85800"/>
            <a:ext cx="1143000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675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全栈技术架构：轻量高效、安全可控</a:t>
            </a:r>
            <a:endParaRPr lang="en-US" sz="2675" dirty="0"/>
          </a:p>
        </p:txBody>
      </p:sp>
      <p:sp>
        <p:nvSpPr>
          <p:cNvPr id="3" name="Text 1"/>
          <p:cNvSpPr/>
          <p:nvPr/>
        </p:nvSpPr>
        <p:spPr>
          <a:xfrm>
            <a:off x="365760" y="1481328"/>
            <a:ext cx="11430000" cy="4787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前后端分离 + Serverless + 云端数据库 + AI 外部对接的云原生方案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280158"/>
          <a:ext cx="114300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108960"/>
                <a:gridCol w="630936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技术层级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NaN" marR="54864" marT="73152" marB="NaN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核心技术方案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NaN" marR="54864" marT="73152" marB="NaN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方案价值与优势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NaN" marR="54864" marT="73152" marB="NaN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前端交互层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NaN" marR="54864" marT="73152" marB="NaN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原生 HTML/CSS/JS 单页应用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NaN" marR="54864" marT="73152" marB="NaN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采用纯原生技术栈实现响应式设计，完美适配移动端与桌面端，摒弃复杂编译构建流程，实现毫秒级页面加载。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NaN" marR="54864" marT="73152" marB="NaN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后端服务层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NaN" marR="54864" marT="73152" marB="NaN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Vercel Serverless Functions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NaN" marR="54864" marT="73152" marB="NaN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部署 7 个核心云函数 API，实现按需执行、弹性伸缩，无需投入服务器运维成本。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NaN" marR="54864" marT="73152" marB="NaN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数据存储层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NaN" marR="54864" marT="73152" marB="NaN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Supabase PostgreSQL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NaN" marR="54864" marT="73152" marB="NaN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全托管云端数据库，内置 REST API 与实时数据订阅能力，搭配行级安全（RLS）策略，确保数据访问安全。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NaN" marR="54864" marT="73152" marB="NaN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智能能力层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NaN" marR="54864" marT="73152" marB="NaN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SiliconFlow API 赋能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NaN" marR="54864" marT="73152" marB="NaN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集成先进的文本结构化提取与图片语义识别能力，为物品信息匹配提供 AI 技术支撑。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NaN" marR="54864" marT="73152" marB="NaN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文件存储层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NaN" marR="54864" marT="73152" marB="NaN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Supabase Storage 对象存储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NaN" marR="54864" marT="73152" marB="NaN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提供高可用的云端文件存储服务，自动生成安全的图片访问 URL，支持文件的上传、管理与权限控制。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NaN" marR="54864" marT="73152" marB="NaN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安全认证层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NaN" marR="54864" marT="73152" marB="NaN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JWT Token 无状态认证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NaN" marR="54864" marT="73152" marB="NaN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采用行业标准的 JWT 认证方案，实现无状态的身份校验，有效保障前后端通信安全与用户身份合法性。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NaN" marR="54864" marT="73152" marB="NaN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571500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技术架构在开发效率、运行成本、系统安全与智能体验上实现全方位平衡，构建稳定可靠的城市拾遗服务底座。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85800"/>
            <a:ext cx="1143000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675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Serverless 架构核心：7 大后端 API 模块清单</a:t>
            </a:r>
            <a:endParaRPr lang="en-US" sz="2675" dirty="0"/>
          </a:p>
        </p:txBody>
      </p:sp>
      <p:sp>
        <p:nvSpPr>
          <p:cNvPr id="3" name="Text 1"/>
          <p:cNvSpPr/>
          <p:nvPr/>
        </p:nvSpPr>
        <p:spPr>
          <a:xfrm>
            <a:off x="365760" y="1481328"/>
            <a:ext cx="11430000" cy="4787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模块化云函数设计，实现业务解耦、弹性扩容与零运维成本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280158"/>
          <a:ext cx="114300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560320"/>
                <a:gridCol w="65836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API 访问路径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NaN" marR="54864" marT="73152" marB="NaN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核心功能分类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NaN" marR="54864" marT="73152" marB="NaN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业务逻辑与实现细节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NaN" marR="54864" marT="73152" marB="NaN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/api/records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NaN" marR="54864" marT="73152" marB="NaN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核心业务处理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NaN" marR="54864" marT="73152" marB="NaN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物品增删改查、认领受理及找回确认，负责遗失/拾获信息的全生命周期管理。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NaN" marR="54864" marT="73152" marB="NaN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/api/auth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NaN" marR="54864" marT="73152" marB="NaN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用户身份认证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NaN" marR="54864" marT="73152" marB="NaN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账号注册、密码登录、实名认证流程，为平台交互提供可信的身份鉴权保障。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NaN" marR="54864" marT="73152" marB="NaN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/api/structured-input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NaN" marR="54864" marT="73152" marB="NaN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语义结构化提取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NaN" marR="54864" marT="73152" marB="NaN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调用人工智能服务，对用户输入的自然语言描述进行解析，自动提取物品特征、地点、时间等结构化信息。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NaN" marR="54864" marT="73152" marB="NaN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/api/analyze-image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NaN" marR="54864" marT="73152" marB="NaN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图像语义分析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NaN" marR="54864" marT="73152" marB="NaN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对接图像识别模型，对用户上传的物品照片进行深度语义分析，自动识别物品类型、品牌、特征标签。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NaN" marR="54864" marT="73152" marB="NaN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/api/upload-image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NaN" marR="54864" marT="73152" marB="NaN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云端资源存储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NaN" marR="54864" marT="73152" marB="NaN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处理多媒体文件传输，将用户上传的图片安全存储至云对象存储服务，并生成可访问的 CDN 链接。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NaN" marR="54864" marT="73152" marB="NaN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/api/notify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NaN" marR="54864" marT="73152" marB="NaN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实时消息通知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NaN" marR="54864" marT="73152" marB="NaN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基于 8 秒轮询策略实现轻量级实时通信，向用户推送认领进度、匹配结果及系统提醒。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NaN" marR="54864" marT="73152" marB="NaN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/api/custody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NaN" marR="54864" marT="73152" marB="NaN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代保管点管理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NaN" marR="54864" marT="73152" marB="NaN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提供校园/城市代保管点的增删改查管理接口，构建线下实体网络与线上平台的联动支撑。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NaN" marR="54864" marT="73152" marB="NaN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571500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Serverless 的模块化 API 设计，实现了业务解耦、弹性扩容与零运维成本，为系统稳定性与扩展性提供坚实保障。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85800"/>
            <a:ext cx="1143000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675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技术架构图解析</a:t>
            </a:r>
            <a:endParaRPr lang="en-US" sz="2675" dirty="0"/>
          </a:p>
        </p:txBody>
      </p:sp>
      <p:sp>
        <p:nvSpPr>
          <p:cNvPr id="3" name="Text 1"/>
          <p:cNvSpPr/>
          <p:nvPr/>
        </p:nvSpPr>
        <p:spPr>
          <a:xfrm>
            <a:off x="365760" y="1481328"/>
            <a:ext cx="11430000" cy="4787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三层分离：前端展示层 / 后端业务逻辑层 / 数据存储层完全解耦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2280158"/>
            <a:ext cx="11430000" cy="548640"/>
          </a:xfrm>
          <a:prstGeom prst="roundRect">
            <a:avLst>
              <a:gd name="adj" fmla="val 13333"/>
            </a:avLst>
          </a:prstGeom>
          <a:solidFill>
            <a:srgbClr val="EEF2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280158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用户层（客户端）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0" y="2280158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桌面端浏览器        移动端浏览器        未来：微信小程序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303520" y="2965958"/>
            <a:ext cx="1463040" cy="137160"/>
          </a:xfrm>
          <a:prstGeom prst="rightArrow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3103118"/>
            <a:ext cx="11430000" cy="1280160"/>
          </a:xfrm>
          <a:prstGeom prst="roundRect">
            <a:avLst>
              <a:gd name="adj" fmla="val 5714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10311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Vercel 云平台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3487166"/>
            <a:ext cx="502920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487166"/>
            <a:ext cx="5029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前端静态托管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HTML / CSS / JS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46520" y="3487166"/>
            <a:ext cx="502920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3487166"/>
            <a:ext cx="5029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Serverless Functions（7 个云函数 API）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records · auth · structured-input · analyze-image · upload-image · notify · custody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03520" y="4520438"/>
            <a:ext cx="1463040" cy="137160"/>
          </a:xfrm>
          <a:prstGeom prst="rightArrow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4657598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ECFEF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749038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Supabase PostgreSQL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5041646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物品记录 / 用户数据 / 认领记录 / 找回确认 / 消息通知 / 代保管点 / 行级安全 RLS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297680" y="4657598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ECFEF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34840" y="4749038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Supabase Storage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434840" y="5041646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物品图片 / 头像 / 访问 URL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092440" y="4657598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ECFEF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0" y="4749038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SiliconFlow AI 引擎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9600" y="5041646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文本结构化提取 / 图片语义识别 / 多模态匹配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" y="5846318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分层解耦 · 高弹性架构：全托管云原生架构实现四层解耦，保障系统高可用与灵活扩展，降低运维成本。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85800"/>
            <a:ext cx="1143000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675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技术架构核心优势，赋能项目高效落地</a:t>
            </a:r>
            <a:endParaRPr lang="en-US" sz="2675" dirty="0"/>
          </a:p>
        </p:txBody>
      </p:sp>
      <p:sp>
        <p:nvSpPr>
          <p:cNvPr id="3" name="Text 1"/>
          <p:cNvSpPr/>
          <p:nvPr/>
        </p:nvSpPr>
        <p:spPr>
          <a:xfrm>
            <a:off x="365760" y="1481328"/>
            <a:ext cx="11430000" cy="4787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在运维效率、成本控制、安全合规及开发协同等维度实现全方位突破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280158"/>
          <a:ext cx="114300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572000"/>
                <a:gridCol w="484632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核心维度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NaN" marR="54864" marT="73152" marB="NaN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传统技术方案痛点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NaN" marR="54864" marT="73152" marB="NaN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我们的技术架构优势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NaN" marR="54864" marT="73152" marB="NaN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服务器运维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NaN" marR="54864" marT="73152" marB="NaN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需采购配置、部署监控，运维成本高昂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NaN" marR="54864" marT="73152" marB="NaN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零服务器运维，专注业务无需关注底层维护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NaN" marR="54864" marT="73152" marB="NaN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资源弹性能力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NaN" marR="54864" marT="73152" marB="NaN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资源固定配置，高峰易宕机低谷易浪费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NaN" marR="54864" marT="73152" marB="NaN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极致弹性扩缩容，自动适配流量峰谷变化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NaN" marR="54864" marT="73152" marB="NaN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项目成本控制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NaN" marR="54864" marT="73152" marB="NaN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预付资源费用，闲置时成本无法有效降低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NaN" marR="54864" marT="73152" marB="NaN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按需计费享免费额度，初创期可零成本运行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NaN" marR="54864" marT="73152" marB="NaN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团队开发协同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NaN" marR="54864" marT="73152" marB="NaN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前后端耦合度高，接口不清晰迭代效率低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NaN" marR="54864" marT="73152" marB="NaN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前后端分离架构，接口清晰实现团队高效并行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NaN" marR="54864" marT="73152" marB="NaN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数据安全保障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NaN" marR="54864" marT="73152" marB="NaN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权限管控粗放，身份认证机制存在安全隐患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NaN" marR="54864" marT="73152" marB="NaN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RLS 行级安全 + JWT 认证，筑牢企业级安全防线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NaN" marR="54864" marT="73152" marB="NaN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技术栈选型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NaN" marR="54864" marT="73152" marB="NaN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依赖闭源技术，易被厂商锁定且扩展受限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NaN" marR="54864" marT="73152" marB="NaN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全主流开源技术栈，自主可控无厂商锁定风险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NaN" marR="54864" marT="73152" marB="NaN" anchor="mid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566928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我们的技术架构在运维效率、成本控制、安全合规及开发协同等维度实现全方位突破，为项目可持续发展奠定坚实基础。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85800"/>
            <a:ext cx="1143000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675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传媒大学场景演示示例，40条记录 20对高置信匹配落地</a:t>
            </a:r>
            <a:endParaRPr lang="en-US" sz="2675" dirty="0"/>
          </a:p>
        </p:txBody>
      </p:sp>
      <p:sp>
        <p:nvSpPr>
          <p:cNvPr id="3" name="Text 1"/>
          <p:cNvSpPr/>
          <p:nvPr/>
        </p:nvSpPr>
        <p:spPr>
          <a:xfrm>
            <a:off x="365760" y="1481328"/>
            <a:ext cx="11430000" cy="4787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以传媒大学为筛选场景，验证城市级平台在高密度人员区域的运作模式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2280158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EEF2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444750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308483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场景示例记录总数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414014"/>
            <a:ext cx="2286000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覆盖真实丢失与拾获场景，数据来源真实有效。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18688" y="2280158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F5F3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01568" y="2444750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401568" y="308483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成功匹配对数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01568" y="3414014"/>
            <a:ext cx="2286000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智能匹配精准撮合，综合匹配度 ≥80%，效率显著提升。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71616" y="2280158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ECFE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54496" y="2444750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254496" y="308483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核心流程测试覆盖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54496" y="3414014"/>
            <a:ext cx="2286000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功能测试覆盖发布、匹配、认领、找回确认等核心流程。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924544" y="2280158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F0FDF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2444750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闭环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107424" y="308483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全流程信用闭环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07424" y="3414014"/>
            <a:ext cx="2286000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实名 + 信用积分 + 双向确认，构建可信拾遗生态。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154678"/>
            <a:ext cx="30175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4383278"/>
            <a:ext cx="512064" cy="51206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438327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20" dirty="0"/>
          </a:p>
        </p:txBody>
      </p:sp>
      <p:sp>
        <p:nvSpPr>
          <p:cNvPr id="23" name="Text 21"/>
          <p:cNvSpPr/>
          <p:nvPr/>
        </p:nvSpPr>
        <p:spPr>
          <a:xfrm>
            <a:off x="548640" y="503250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基础信息服务体系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5425694"/>
            <a:ext cx="2651760" cy="91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支持失物与招领信息便捷发布，响应式布局适配多端，实现全终端无缝访问。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11880" y="4154678"/>
            <a:ext cx="30175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40480" y="4383278"/>
            <a:ext cx="512064" cy="51206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7" name="Text 25"/>
          <p:cNvSpPr/>
          <p:nvPr/>
        </p:nvSpPr>
        <p:spPr>
          <a:xfrm>
            <a:off x="3840480" y="438327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20" dirty="0"/>
          </a:p>
        </p:txBody>
      </p:sp>
      <p:sp>
        <p:nvSpPr>
          <p:cNvPr id="28" name="Text 26"/>
          <p:cNvSpPr/>
          <p:nvPr/>
        </p:nvSpPr>
        <p:spPr>
          <a:xfrm>
            <a:off x="3794760" y="503250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智能匹配与安全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794760" y="5425694"/>
            <a:ext cx="2651760" cy="91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特征匹配精准推送，实名认证保障可信，“双方确认”规避冒领风险。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858000" y="4154678"/>
            <a:ext cx="30175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086600" y="4383278"/>
            <a:ext cx="512064" cy="512064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32" name="Text 30"/>
          <p:cNvSpPr/>
          <p:nvPr/>
        </p:nvSpPr>
        <p:spPr>
          <a:xfrm>
            <a:off x="7086600" y="438327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20" dirty="0"/>
          </a:p>
        </p:txBody>
      </p:sp>
      <p:sp>
        <p:nvSpPr>
          <p:cNvPr id="33" name="Text 31"/>
          <p:cNvSpPr/>
          <p:nvPr/>
        </p:nvSpPr>
        <p:spPr>
          <a:xfrm>
            <a:off x="7040880" y="503250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生态运营与管理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040880" y="5425694"/>
            <a:ext cx="2651760" cy="91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信用积分激励正向行为，城市/校园代保管点暂存物品，实时消息通知形成闭环。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9921240" y="4154678"/>
            <a:ext cx="20116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058400" y="424611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能力清单：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0058400" y="4493006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信息自由发布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058400" y="4657598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AI 智能匹配推送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0058400" y="4822190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实名认证机制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0058400" y="4986782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双向确认闭环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0058400" y="5151374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信用积分激励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0058400" y="5315966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全终端消息触达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85800"/>
            <a:ext cx="1143000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675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未来展望：小程序、AI 与区块链的持续迭代升级</a:t>
            </a:r>
            <a:endParaRPr lang="en-US" sz="2675" dirty="0"/>
          </a:p>
        </p:txBody>
      </p:sp>
      <p:sp>
        <p:nvSpPr>
          <p:cNvPr id="3" name="Text 1"/>
          <p:cNvSpPr/>
          <p:nvPr/>
        </p:nvSpPr>
        <p:spPr>
          <a:xfrm>
            <a:off x="365760" y="1481328"/>
            <a:ext cx="11430000" cy="4787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从单一 Web 应用向多端生态与可信溯源演进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2280158"/>
            <a:ext cx="5394960" cy="1965960"/>
          </a:xfrm>
          <a:prstGeom prst="roundRect">
            <a:avLst>
              <a:gd name="adj" fmla="val 5581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255447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280160" y="2554478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微信小程序版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3148838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降低用户使用门槛，无需下载安装即可使用，依托微信成熟的社交与流量生态，实现用户的快速触达与获取。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2280158"/>
            <a:ext cx="5394960" cy="1965960"/>
          </a:xfrm>
          <a:prstGeom prst="roundRect">
            <a:avLst>
              <a:gd name="adj" fmla="val 5581"/>
            </a:avLst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6446520" y="255447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🖼️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7132320" y="2554478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图片识别增强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46520" y="3148838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支持多图匹配与批量上传操作，优化算法模型提升图片语义识别的准确度，让失物的视觉信息匹配更加精准可靠。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4474718"/>
            <a:ext cx="5394960" cy="1965960"/>
          </a:xfrm>
          <a:prstGeom prst="roundRect">
            <a:avLst>
              <a:gd name="adj" fmla="val 5581"/>
            </a:avLst>
          </a:prstGeom>
          <a:solidFill>
            <a:srgbClr val="06B6D4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474903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🗺️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280160" y="4749038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地图可视化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94360" y="5343398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开发遗失热点热力图功能，直观展示各区域遗失物品的密度分布情况，辅助用户快速定位查找方向。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4474718"/>
            <a:ext cx="5394960" cy="1965960"/>
          </a:xfrm>
          <a:prstGeom prst="roundRect">
            <a:avLst>
              <a:gd name="adj" fmla="val 5581"/>
            </a:avLst>
          </a:prstGeom>
          <a:solidFill>
            <a:srgbClr val="14B8A6"/>
          </a:solidFill>
          <a:ln/>
        </p:spPr>
      </p:sp>
      <p:sp>
        <p:nvSpPr>
          <p:cNvPr id="17" name="Text 15"/>
          <p:cNvSpPr/>
          <p:nvPr/>
        </p:nvSpPr>
        <p:spPr>
          <a:xfrm>
            <a:off x="6446520" y="474903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🔗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7132320" y="4749038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区块链存证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46520" y="5343398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将失物认领的全过程关键记录上链存证，利用区块链技术确保数据不可篡改、可追溯，增强平台公信力。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6355080"/>
            <a:ext cx="32004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6172200"/>
            <a:ext cx="411480" cy="685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1463040" y="6446520"/>
            <a:ext cx="27432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1828800" y="6263640"/>
            <a:ext cx="457200" cy="594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Shape 5"/>
          <p:cNvSpPr/>
          <p:nvPr/>
        </p:nvSpPr>
        <p:spPr>
          <a:xfrm>
            <a:off x="2468880" y="6400800"/>
            <a:ext cx="36576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Shape 6"/>
          <p:cNvSpPr/>
          <p:nvPr/>
        </p:nvSpPr>
        <p:spPr>
          <a:xfrm>
            <a:off x="3017520" y="6217920"/>
            <a:ext cx="32004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Shape 7"/>
          <p:cNvSpPr/>
          <p:nvPr/>
        </p:nvSpPr>
        <p:spPr>
          <a:xfrm>
            <a:off x="3566160" y="6355080"/>
            <a:ext cx="45720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Shape 8"/>
          <p:cNvSpPr/>
          <p:nvPr/>
        </p:nvSpPr>
        <p:spPr>
          <a:xfrm>
            <a:off x="4206240" y="6423660"/>
            <a:ext cx="274320" cy="4343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0" y="6286500"/>
            <a:ext cx="365760" cy="5715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Shape 10"/>
          <p:cNvSpPr/>
          <p:nvPr/>
        </p:nvSpPr>
        <p:spPr>
          <a:xfrm>
            <a:off x="5120640" y="6377940"/>
            <a:ext cx="411480" cy="4800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Shape 11"/>
          <p:cNvSpPr/>
          <p:nvPr/>
        </p:nvSpPr>
        <p:spPr>
          <a:xfrm>
            <a:off x="5669280" y="6126480"/>
            <a:ext cx="320040" cy="7315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Shape 12"/>
          <p:cNvSpPr/>
          <p:nvPr/>
        </p:nvSpPr>
        <p:spPr>
          <a:xfrm>
            <a:off x="6217920" y="6309360"/>
            <a:ext cx="365760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Shape 13"/>
          <p:cNvSpPr/>
          <p:nvPr/>
        </p:nvSpPr>
        <p:spPr>
          <a:xfrm>
            <a:off x="6766560" y="6469380"/>
            <a:ext cx="274320" cy="3886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Shape 14"/>
          <p:cNvSpPr/>
          <p:nvPr/>
        </p:nvSpPr>
        <p:spPr>
          <a:xfrm>
            <a:off x="7223760" y="6195060"/>
            <a:ext cx="457200" cy="6629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Shape 15"/>
          <p:cNvSpPr/>
          <p:nvPr/>
        </p:nvSpPr>
        <p:spPr>
          <a:xfrm>
            <a:off x="7863840" y="6400800"/>
            <a:ext cx="32004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Shape 16"/>
          <p:cNvSpPr/>
          <p:nvPr/>
        </p:nvSpPr>
        <p:spPr>
          <a:xfrm>
            <a:off x="8321040" y="6263640"/>
            <a:ext cx="365760" cy="594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9" name="Shape 17"/>
          <p:cNvSpPr/>
          <p:nvPr/>
        </p:nvSpPr>
        <p:spPr>
          <a:xfrm>
            <a:off x="8869680" y="6355080"/>
            <a:ext cx="41148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Shape 18"/>
          <p:cNvSpPr/>
          <p:nvPr/>
        </p:nvSpPr>
        <p:spPr>
          <a:xfrm>
            <a:off x="9509760" y="6446520"/>
            <a:ext cx="27432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1" name="Shape 19"/>
          <p:cNvSpPr/>
          <p:nvPr/>
        </p:nvSpPr>
        <p:spPr>
          <a:xfrm>
            <a:off x="9966960" y="6172200"/>
            <a:ext cx="457200" cy="685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2" name="Shape 20"/>
          <p:cNvSpPr/>
          <p:nvPr/>
        </p:nvSpPr>
        <p:spPr>
          <a:xfrm>
            <a:off x="10607040" y="6332220"/>
            <a:ext cx="320040" cy="5257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3" name="Shape 21"/>
          <p:cNvSpPr/>
          <p:nvPr/>
        </p:nvSpPr>
        <p:spPr>
          <a:xfrm>
            <a:off x="11064240" y="6423660"/>
            <a:ext cx="365760" cy="4343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0" y="12801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拾寻 · 城市拾遗网络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00400" y="169164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感谢聆听</a:t>
            </a:r>
            <a:endParaRPr lang="en-US" sz="5200" dirty="0"/>
          </a:p>
        </p:txBody>
      </p:sp>
      <p:sp>
        <p:nvSpPr>
          <p:cNvPr id="26" name="Shape 24"/>
          <p:cNvSpPr/>
          <p:nvPr/>
        </p:nvSpPr>
        <p:spPr>
          <a:xfrm>
            <a:off x="5303520" y="2743200"/>
            <a:ext cx="164592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7" name="Text 25"/>
          <p:cNvSpPr/>
          <p:nvPr/>
        </p:nvSpPr>
        <p:spPr>
          <a:xfrm>
            <a:off x="3200400" y="288036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拾寻 · 让重逢更简单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200400" y="342900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https://shixun-lost-found.vercel.app</a:t>
            </a:r>
            <a:endParaRPr lang="en-US" sz="1200" dirty="0"/>
          </a:p>
        </p:txBody>
      </p:sp>
      <p:pic>
        <p:nvPicPr>
          <p:cNvPr id="29" name="Image 0" descr="D:\Trae_Solo_Project\拾寻\images\qr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3794760"/>
            <a:ext cx="1920240" cy="192024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3200400" y="580644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期待与您的每一次相遇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拾寻 · 城市拾遗网络</dc:title>
  <dc:subject>城市级泛公共物联网络演示</dc:subject>
  <dc:creator>拾寻项目组</dc:creator>
  <cp:lastModifiedBy>拾寻项目组</cp:lastModifiedBy>
  <cp:revision>1</cp:revision>
  <dcterms:created xsi:type="dcterms:W3CDTF">2026-06-17T12:28:18Z</dcterms:created>
  <dcterms:modified xsi:type="dcterms:W3CDTF">2026-06-17T12:28:18Z</dcterms:modified>
</cp:coreProperties>
</file>